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954944" cy="1234440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02920"/>
            <a:ext cx="955267" cy="1234440"/>
          </a:xfrm>
          <a:prstGeom prst="rect">
            <a:avLst/>
          </a:prstGeom>
        </p:spPr>
      </p:pic>
      <p:pic>
        <p:nvPicPr>
          <p:cNvPr id="6" name="Picture 5" descr="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411480"/>
            <a:ext cx="4389120" cy="198403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103120"/>
            <a:ext cx="292608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39696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0515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Tutorial interno:
Inscripciones y Colegiaturas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AE6FD"/>
                </a:solidFill>
                <a:latin typeface="Calibri"/>
              </a:rPr>
              <a:t>Guía operativa del portal unificado (reinscritos y nuevo ingreso). Cómo acompañar a las familias y diagnosticar bloqueos.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Portal: servicios-admin.vercel.app/portal-inscripciones  ·  Personal administrativo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1. Para qué sirve este tutorial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Personal de servicios / control escolar / caja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Explicar el flujo real del portal a padres o en mesa de ayuda.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Identificar por qué un alumno “debe” o no ve colegiaturas.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D9488"/>
                </a:solidFill>
                <a:latin typeface="Calibri"/>
              </a:rPr>
              <a:t>•  Distinguir ciclo que se cierra (ej. 22 / 2025-2026) del ciclo nuevo (23 / 2026-2027).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97706"/>
                </a:solidFill>
                <a:latin typeface="Calibri"/>
              </a:rPr>
              <a:t>•  Recordar: los números de ciclo avanzan cada temporada (22→23→24…). No hardcodear.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EA5E9"/>
                </a:solidFill>
                <a:latin typeface="Calibri"/>
              </a:rPr>
              <a:t>•  Saber dónde salen PDF y XML de factura (mismo flujo Banorte/SPEI + timbrado InsForge).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Personal administrativo · Tutorial interno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2. Mapa del proceso (reinscrito)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Orden obligatorio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291840" cy="3840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1691640"/>
            <a:ext cx="1097280" cy="10972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96596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1752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Cierre ciclo
anterior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11480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10 u 11 meses
del ciclo actual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291840" cy="3840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0" y="1691640"/>
            <a:ext cx="1097280" cy="10972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96596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1752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4 pasos
reinscripción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1480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Solicitud · Reglamento
Pago · Recibo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1463040"/>
            <a:ext cx="3291840" cy="3840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39" y="1691640"/>
            <a:ext cx="1097280" cy="10972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39" y="196596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301752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Colegiaturas
ciclo nuevo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411480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Concepto 00 +
mensualidades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Personal administrativo · Tutorial interno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3. Cierre del ciclo anterior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Antes de reinscribirse debe liquidar 10 u 11 meses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6692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Qué valida el sistema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Plan 10 meses: 00 + sep→jun + material (16).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Plan 11 meses: lo anterior + julio (26).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D97706"/>
                </a:solidFill>
                <a:latin typeface="Calibri"/>
              </a:rPr>
              <a:t>Si la matriz muestra Pagado y el aviso sigue, era bug de match de referencia (ya corregido).</a:t>
            </a:r>
          </a:p>
        </p:txBody>
      </p:sp>
      <p:pic>
        <p:nvPicPr>
          <p:cNvPr id="9" name="Picture 8" descr="image-1af4db3c-17c3-4001-a728-f8f6860717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5577840" cy="313208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Personal administrativo · Tutorial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4. Cuando ya no adeuda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Se abre el flujo de reinscripción</a:t>
            </a:r>
          </a:p>
        </p:txBody>
      </p:sp>
      <p:pic>
        <p:nvPicPr>
          <p:cNvPr id="8" name="Picture 7" descr="image-01bbd502-463d-43fa-8989-fc58cead53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34440"/>
            <a:ext cx="6766560" cy="37995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1371600"/>
            <a:ext cx="420624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6A34A"/>
                </a:solidFill>
                <a:latin typeface="Calibri"/>
              </a:rPr>
              <a:t>•  Todos los conceptos del plan en Pagado.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A34A"/>
                </a:solidFill>
                <a:latin typeface="Calibri"/>
              </a:rPr>
              <a:t>•  Desaparece el aviso amarillo de adeudo.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D9488"/>
                </a:solidFill>
                <a:latin typeface="Calibri"/>
              </a:rPr>
              <a:t>•  Empiezan los 4 pasos.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97706"/>
                </a:solidFill>
                <a:latin typeface="Calibri"/>
              </a:rPr>
              <a:t>•  Si sigue bloqueado: Actualizar estado / recargar.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Personal administrativo · Tutorial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5. Los 4 pasos de reinscripción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Disponible ≠ Completado</a:t>
            </a:r>
          </a:p>
        </p:txBody>
      </p:sp>
      <p:pic>
        <p:nvPicPr>
          <p:cNvPr id="8" name="Picture 7" descr="image-7c6bf878-ab7d-49ec-b2ae-bded6990dc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88720"/>
            <a:ext cx="6949440" cy="36689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1280160"/>
            <a:ext cx="4297680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01 Solicitud — datos del alumno.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02 Reglamento — abrir/descargar.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03 Pago — ventanilla / Banorte / SPEI.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04 Recibo final — abrirlo 1 vez.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DC2626"/>
                </a:solidFill>
                <a:latin typeface="Calibri"/>
              </a:rPr>
              <a:t>•  Colegiaturas del ciclo NUEVO solo con los 4 en Completado.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Personal administrativo · Tutorial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6. Pago → timbrado → factura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Mismo flujo que colegiaturas / admisiones</a:t>
            </a:r>
          </a:p>
        </p:txBody>
      </p:sp>
      <p:pic>
        <p:nvPicPr>
          <p:cNvPr id="8" name="Picture 7" descr="image-977c7977-6c96-490c-ac67-f23f0c7378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80160"/>
            <a:ext cx="11155680" cy="17700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017520"/>
            <a:ext cx="1115568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Flujo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1) El padre paga (efectivo, comercio electrónico Banorte o SPEI).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2) Se registra el pago en pago_detalle.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3) Se timbra CFDI y se guarda PDF/XML en InsForge Storage.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D9488"/>
                </a:solidFill>
                <a:latin typeface="Calibri"/>
              </a:rPr>
              <a:t>4) En el paso 03 ya no se muestra “Ver comprobante”: salen botones PDF y XML.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EA5E9"/>
                </a:solidFill>
                <a:latin typeface="Calibri"/>
              </a:rPr>
              <a:t>Conceptos de reinscripción: 11 / 12 / 13 según diferido o pago completo.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Personal administrativo · Tutorial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7. Colegiaturas del ciclo nuevo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Se desbloquean al completar los 4 pasos</a:t>
            </a:r>
          </a:p>
        </p:txBody>
      </p:sp>
      <p:pic>
        <p:nvPicPr>
          <p:cNvPr id="8" name="Picture 7" descr="image-8e83361e-af05-4e01-9087-8c5b8f1d49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34440"/>
            <a:ext cx="11155680" cy="17700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200400"/>
            <a:ext cx="109728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C2626"/>
                </a:solidFill>
                <a:latin typeface="Calibri"/>
              </a:rPr>
              <a:t>Si faltan reglamento o recibo (Disponible), la matriz del ciclo nuevo NO debe mostrarse.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D9488"/>
                </a:solidFill>
                <a:latin typeface="Calibri"/>
              </a:rPr>
              <a:t>Tras completar: cuota de inicio de curso (00) y mensualidades del destino (ej. 2026-2027).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97706"/>
                </a:solidFill>
                <a:latin typeface="Calibri"/>
              </a:rPr>
              <a:t>Cambridge / Winston USA solo si hay precio real cargado en el ciclo (no inventar montos).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Acordeón “Proceso completado”: Expandir / Collapsar para volver a ver los pasos.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Personal administrativo · Tutorial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8. Ciclos escolares (permanente)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El número cambia cada año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0972800" cy="4754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058400" cy="4206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Regla de oro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Hoy el ciclo de reinscripción destino es 23 (= 2026-2027).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D9488"/>
                </a:solidFill>
                <a:latin typeface="Calibri"/>
              </a:rPr>
              <a:t>El año próximo será 24, luego 25… Siempre proyección origen → origen+1.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es_actual en BD = ciclo en curso de colegiaturas “viejas”.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Cierre = ciclo de inscripción − 1 (el que se liquida antes de reinscribir).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DC2626"/>
                </a:solidFill>
                <a:latin typeface="Calibri"/>
              </a:rPr>
              <a:t>Nunca fijar “el 23” en código o capacitaciones como valor eterno.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Personal administrativo · Tutorial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9. Checklist rápido mesa de ayuda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Qué preguntar / revisar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97706"/>
                </a:solidFill>
                <a:latin typeface="Calibri"/>
              </a:rPr>
              <a:t>Bloqueo por adeudo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486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97706"/>
                </a:solidFill>
                <a:latin typeface="Calibri"/>
              </a:rPr>
              <a:t>•  ¿Ve aviso de liquidar 2025-2026?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¿Plan 10 u 11 meses?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6A34A"/>
                </a:solidFill>
                <a:latin typeface="Calibri"/>
              </a:rPr>
              <a:t>•  ¿Todos los meses en Pagado?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¿Actualizó estado / recargó?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Bloqueo por pasos / factura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D9488"/>
                </a:solidFill>
                <a:latin typeface="Calibri"/>
              </a:rPr>
              <a:t>•  ¿Los 4 pasos en Completado?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EA5E9"/>
                </a:solidFill>
                <a:latin typeface="Calibri"/>
              </a:rPr>
              <a:t>•  ¿Pago timbrado? (PDF/XML)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97706"/>
                </a:solidFill>
                <a:latin typeface="Calibri"/>
              </a:rPr>
              <a:t>•  ¿Precios del ciclo nuevo cargados?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¿URL: portal-inscripciones?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Personal administrativo · Tutorial interno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10. Resumen para el equipo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Una frase por bloque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C2626"/>
                </a:solidFill>
                <a:latin typeface="Calibri"/>
              </a:rPr>
              <a:t>•  Sin liquidar el ciclo que cierra → no hay reinscripción.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C2626"/>
                </a:solidFill>
                <a:latin typeface="Calibri"/>
              </a:rPr>
              <a:t>•  Sin los 4 pasos completos → no hay colegiaturas del ciclo nuevo.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D9488"/>
                </a:solidFill>
                <a:latin typeface="Calibri"/>
              </a:rPr>
              <a:t>•  Pago en línea = mismo camino que colegiaturas: registro + CFDI + PDF/XML.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64748B"/>
                </a:solidFill>
                <a:latin typeface="Calibri"/>
              </a:rPr>
              <a:t>•  Capaciten con captura de pantalla y el número de ciclo de esa temporada.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EA5E9"/>
                </a:solidFill>
                <a:latin typeface="Calibri"/>
              </a:rPr>
              <a:t>•  Dudas técnicas: revisar rama desayunos / despliegue Vercel servicios-admin.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Personal administrativo · Tutorial interno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